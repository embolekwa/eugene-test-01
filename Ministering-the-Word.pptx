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There is a science and a craft to ministering the word of God — it can be learned, sharpened and practised.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five are what a listener is really reaching for. The rest of this session takes them one at a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Diligence, approval before God, and rightly dividing — the standard we are working towards.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Clarity is not shallowness. It is the discipline of understanding a thing well enough to say it simply.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Flow is the listener's handrail. Introduction, body, conclusion — and every verse earning its 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Conviction belongs to the Holy Spirit. Condemnation belongs to no one in the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Balance is not neutrality — it is refusing to feed the church only the half you enjoy.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Impact follows the anointing, not imitation. Preach as the person God anointed.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 first. Content second. A sermon without a purpose becomes a collection of good verses going nowhere.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in prayer — that every worker here would be approved, unashamed, and clear.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30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eugene-test-01/assets/logo_mark_white.pn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7818120" y="502920"/>
            <a:ext cx="4754880" cy="4078224"/>
          </a:xfrm>
          <a:prstGeom prst="rect">
            <a:avLst/>
          </a:prstGeom>
        </p:spPr>
      </p:pic>
      <p:pic>
        <p:nvPicPr>
          <p:cNvPr id="3" name="Image 1" descr="/home/user/eugene-test-01/assets/logo_full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"/>
            <a:ext cx="2971800" cy="8229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77240" y="2286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B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MINISTRY TRAINING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777240" y="2697480"/>
            <a:ext cx="8138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Science &amp; Craft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Ministering the Word</a:t>
            </a:r>
            <a:endParaRPr lang="en-US" sz="4000" dirty="0"/>
          </a:p>
        </p:txBody>
      </p:sp>
      <p:sp>
        <p:nvSpPr>
          <p:cNvPr id="6" name="Text 2"/>
          <p:cNvSpPr/>
          <p:nvPr/>
        </p:nvSpPr>
        <p:spPr>
          <a:xfrm>
            <a:off x="777240" y="461772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FC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 and delivering the word with clarity, flow, encouragement and impact.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777240" y="5943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B3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Timothy 2:15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E9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CRAFT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91440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2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a science and a craft in</a:t>
            </a:r>
            <a:endParaRPr lang="en-US" sz="3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2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ministering the word of God.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77240" y="2286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people are listening to you, they want to hear —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3154680"/>
            <a:ext cx="2029968" cy="2331720"/>
          </a:xfrm>
          <a:prstGeom prst="roundRect">
            <a:avLst>
              <a:gd name="adj" fmla="val 5405"/>
            </a:avLst>
          </a:prstGeom>
          <a:solidFill>
            <a:srgbClr val="F6F1F7"/>
          </a:solidFill>
          <a:ln w="12700">
            <a:solidFill>
              <a:srgbClr val="F6F1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4712" y="3520440"/>
            <a:ext cx="749808" cy="74980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AE960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4658" y="3730386"/>
            <a:ext cx="329916" cy="3299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14984" y="4453128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11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014984" y="4800600"/>
            <a:ext cx="1618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C8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they can follow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990088" y="3154680"/>
            <a:ext cx="2029968" cy="2331720"/>
          </a:xfrm>
          <a:prstGeom prst="roundRect">
            <a:avLst>
              <a:gd name="adj" fmla="val 5405"/>
            </a:avLst>
          </a:prstGeom>
          <a:solidFill>
            <a:srgbClr val="F6F1F7"/>
          </a:solidFill>
          <a:ln w="12700">
            <a:solidFill>
              <a:srgbClr val="F6F1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337560" y="3520440"/>
            <a:ext cx="749808" cy="74980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AE960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7506" y="3730386"/>
            <a:ext cx="329916" cy="32991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227832" y="4453128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11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227832" y="4800600"/>
            <a:ext cx="1618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C8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idea connects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202936" y="3154680"/>
            <a:ext cx="2029968" cy="2331720"/>
          </a:xfrm>
          <a:prstGeom prst="roundRect">
            <a:avLst>
              <a:gd name="adj" fmla="val 5405"/>
            </a:avLst>
          </a:prstGeom>
          <a:solidFill>
            <a:srgbClr val="F6F1F7"/>
          </a:solidFill>
          <a:ln w="12700">
            <a:solidFill>
              <a:srgbClr val="F6F1F7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550408" y="3520440"/>
            <a:ext cx="749808" cy="74980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AE9600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354" y="3730386"/>
            <a:ext cx="329916" cy="32991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440680" y="4453128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11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5440680" y="4800600"/>
            <a:ext cx="1618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C8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 that opens up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7415784" y="3154680"/>
            <a:ext cx="2029968" cy="2331720"/>
          </a:xfrm>
          <a:prstGeom prst="roundRect">
            <a:avLst>
              <a:gd name="adj" fmla="val 5405"/>
            </a:avLst>
          </a:prstGeom>
          <a:solidFill>
            <a:srgbClr val="F6F1F7"/>
          </a:solidFill>
          <a:ln w="12700">
            <a:solidFill>
              <a:srgbClr val="F6F1F7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763256" y="3520440"/>
            <a:ext cx="749808" cy="74980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AE9600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3202" y="3730386"/>
            <a:ext cx="329916" cy="32991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653528" y="4453128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11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Encouragement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7653528" y="4800600"/>
            <a:ext cx="1618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C8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Strength, not shame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9628632" y="3154680"/>
            <a:ext cx="2029968" cy="2331720"/>
          </a:xfrm>
          <a:prstGeom prst="roundRect">
            <a:avLst>
              <a:gd name="adj" fmla="val 5405"/>
            </a:avLst>
          </a:prstGeom>
          <a:solidFill>
            <a:srgbClr val="F6F1F7"/>
          </a:solidFill>
          <a:ln w="12700">
            <a:solidFill>
              <a:srgbClr val="F6F1F7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9976104" y="3520440"/>
            <a:ext cx="749808" cy="74980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AE9600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86050" y="3730386"/>
            <a:ext cx="329916" cy="32991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866376" y="4453128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11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9866376" y="4800600"/>
            <a:ext cx="1618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C8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anointing at work</a:t>
            </a:r>
            <a:endParaRPr lang="en-US" sz="1150" dirty="0"/>
          </a:p>
        </p:txBody>
      </p:sp>
      <p:pic>
        <p:nvPicPr>
          <p:cNvPr id="30" name="Image 5" descr="/home/user/eugene-test-01/assets/logo_mark_color.png">    </p:cNvPr>
          <p:cNvPicPr>
            <a:picLocks noChangeAspect="1"/>
          </p:cNvPicPr>
          <p:nvPr/>
        </p:nvPicPr>
        <p:blipFill>
          <a:blip r:embed="rId6">
            <a:alphaModFix amt="75000"/>
          </a:blip>
          <a:stretch>
            <a:fillRect/>
          </a:stretch>
        </p:blipFill>
        <p:spPr>
          <a:xfrm>
            <a:off x="11027664" y="6053328"/>
            <a:ext cx="384048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30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eugene-test-01/assets/logo_mark_white.pn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tretch>
            <a:fillRect/>
          </a:stretch>
        </p:blipFill>
        <p:spPr>
          <a:xfrm>
            <a:off x="8869680" y="3657600"/>
            <a:ext cx="3108960" cy="26700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77240" y="960120"/>
            <a:ext cx="914400" cy="914400"/>
          </a:xfrm>
          <a:prstGeom prst="ellipse">
            <a:avLst/>
          </a:prstGeom>
          <a:solidFill>
            <a:srgbClr val="C9B356">
              <a:alpha val="0"/>
            </a:srgbClr>
          </a:solidFill>
          <a:ln w="15875">
            <a:solidFill>
              <a:srgbClr val="C9B356"/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" y="1216152"/>
            <a:ext cx="402336" cy="40233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77240" y="2286000"/>
            <a:ext cx="9692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31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 diligent to present yourself approved to God, a worker who does not need to be ashamed, rightly dividing the word of truth.</a:t>
            </a:r>
            <a:endParaRPr lang="en-US" sz="3100" dirty="0"/>
          </a:p>
        </p:txBody>
      </p:sp>
      <p:sp>
        <p:nvSpPr>
          <p:cNvPr id="6" name="Text 2"/>
          <p:cNvSpPr/>
          <p:nvPr/>
        </p:nvSpPr>
        <p:spPr>
          <a:xfrm>
            <a:off x="777240" y="5029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B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TIMOTHY 2:15 (NKJV)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E9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CLARITY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914400"/>
            <a:ext cx="5943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2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easy to understand.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77240" y="2331720"/>
            <a:ext cx="5806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55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Easy, uncomplicated words. If you are confused while preparing the word, that is a strong indicator your listeners will be confused too.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77240" y="3566160"/>
            <a:ext cx="5806440" cy="2103120"/>
          </a:xfrm>
          <a:prstGeom prst="roundRect">
            <a:avLst>
              <a:gd name="adj" fmla="val 5217"/>
            </a:avLst>
          </a:prstGeom>
          <a:solidFill>
            <a:srgbClr val="F6F1F7"/>
          </a:solidFill>
          <a:ln w="12700">
            <a:solidFill>
              <a:srgbClr val="F6F1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38404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11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competing for their attention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88720" y="420624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5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listener arrives already occupied. Clear words cut through what is competing for them.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188720" y="4937760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61116A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6736" y="5065776"/>
            <a:ext cx="201168" cy="2011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737360" y="49377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own thoughts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971800" y="4937760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61116A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9816" y="5065776"/>
            <a:ext cx="201168" cy="2011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20440" y="49377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Distractions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754880" y="4937760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61116A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2896" y="5065776"/>
            <a:ext cx="201168" cy="20116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303520" y="49377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Demonic powers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7178040" y="2331720"/>
            <a:ext cx="4233672" cy="3337560"/>
          </a:xfrm>
          <a:prstGeom prst="roundRect">
            <a:avLst>
              <a:gd name="adj" fmla="val 3836"/>
            </a:avLst>
          </a:prstGeom>
          <a:solidFill>
            <a:srgbClr val="330A3A"/>
          </a:solidFill>
          <a:ln w="12700">
            <a:solidFill>
              <a:srgbClr val="330A3A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7635240" y="2697480"/>
            <a:ext cx="731520" cy="731520"/>
          </a:xfrm>
          <a:prstGeom prst="ellipse">
            <a:avLst/>
          </a:prstGeom>
          <a:solidFill>
            <a:srgbClr val="C9B356">
              <a:alpha val="0"/>
            </a:srgbClr>
          </a:solidFill>
          <a:ln w="15875">
            <a:solidFill>
              <a:srgbClr val="C9B356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0066" y="2902306"/>
            <a:ext cx="321869" cy="321869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635240" y="36118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preparation test</a:t>
            </a:r>
            <a:endParaRPr lang="en-US" sz="1700" dirty="0"/>
          </a:p>
        </p:txBody>
      </p:sp>
      <p:sp>
        <p:nvSpPr>
          <p:cNvPr id="21" name="Text 15"/>
          <p:cNvSpPr/>
          <p:nvPr/>
        </p:nvSpPr>
        <p:spPr>
          <a:xfrm>
            <a:off x="7635240" y="402336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C9B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confuses you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D9C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the desk, it will confuse them in the pew. Sit with the point until you can say it in one plain sentence — then preach it.</a:t>
            </a:r>
            <a:endParaRPr lang="en-US" sz="1350" dirty="0"/>
          </a:p>
        </p:txBody>
      </p:sp>
      <p:pic>
        <p:nvPicPr>
          <p:cNvPr id="22" name="Image 4" descr="/home/user/eugene-test-01/assets/logo_mark_color.png">    </p:cNvPr>
          <p:cNvPicPr>
            <a:picLocks noChangeAspect="1"/>
          </p:cNvPicPr>
          <p:nvPr/>
        </p:nvPicPr>
        <p:blipFill>
          <a:blip r:embed="rId5">
            <a:alphaModFix amt="75000"/>
          </a:blip>
          <a:stretch>
            <a:fillRect/>
          </a:stretch>
        </p:blipFill>
        <p:spPr>
          <a:xfrm>
            <a:off x="11027664" y="6053328"/>
            <a:ext cx="384048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E9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9144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rgbClr val="2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idea flows into the next.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77240" y="1965960"/>
            <a:ext cx="3383280" cy="2286000"/>
          </a:xfrm>
          <a:prstGeom prst="roundRect">
            <a:avLst>
              <a:gd name="adj" fmla="val 4800"/>
            </a:avLst>
          </a:prstGeom>
          <a:solidFill>
            <a:srgbClr val="F6F1F7"/>
          </a:solidFill>
          <a:ln w="12700">
            <a:solidFill>
              <a:srgbClr val="F6F1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8720" y="2350008"/>
            <a:ext cx="658368" cy="6583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AE960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3063" y="2534351"/>
            <a:ext cx="289682" cy="2896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11680" y="24688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11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88720" y="32918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5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subject and show why it matters today.</a:t>
            </a:r>
            <a:endParaRPr lang="en-US" sz="12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2999232"/>
            <a:ext cx="219456" cy="21945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544568" y="1965960"/>
            <a:ext cx="3383280" cy="2286000"/>
          </a:xfrm>
          <a:prstGeom prst="roundRect">
            <a:avLst>
              <a:gd name="adj" fmla="val 4800"/>
            </a:avLst>
          </a:prstGeom>
          <a:solidFill>
            <a:srgbClr val="61116A"/>
          </a:solidFill>
          <a:ln w="12700">
            <a:solidFill>
              <a:srgbClr val="61116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956048" y="2350008"/>
            <a:ext cx="658368" cy="658368"/>
          </a:xfrm>
          <a:prstGeom prst="ellipse">
            <a:avLst/>
          </a:prstGeom>
          <a:solidFill>
            <a:srgbClr val="C9B356">
              <a:alpha val="0"/>
            </a:srgbClr>
          </a:solidFill>
          <a:ln w="15875">
            <a:solidFill>
              <a:srgbClr val="C9B356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0391" y="2534351"/>
            <a:ext cx="289682" cy="28968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779008" y="24688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4956048" y="32918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3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argument point by point, each one carrying the last.</a:t>
            </a:r>
            <a:endParaRPr lang="en-US" sz="12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0144" y="2999232"/>
            <a:ext cx="219456" cy="219456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8311896" y="1965960"/>
            <a:ext cx="3383280" cy="2286000"/>
          </a:xfrm>
          <a:prstGeom prst="roundRect">
            <a:avLst>
              <a:gd name="adj" fmla="val 4800"/>
            </a:avLst>
          </a:prstGeom>
          <a:solidFill>
            <a:srgbClr val="F6F1F7"/>
          </a:solidFill>
          <a:ln w="12700">
            <a:solidFill>
              <a:srgbClr val="F6F1F7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8723376" y="2350008"/>
            <a:ext cx="658368" cy="6583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AE9600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7719" y="2534351"/>
            <a:ext cx="289682" cy="28968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9546336" y="24688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11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20" name="Text 13"/>
          <p:cNvSpPr/>
          <p:nvPr/>
        </p:nvSpPr>
        <p:spPr>
          <a:xfrm>
            <a:off x="8723376" y="32918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5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it — what they must now believe, and do.</a:t>
            </a:r>
            <a:endParaRPr lang="en-US" sz="1250" dirty="0"/>
          </a:p>
        </p:txBody>
      </p:sp>
      <p:sp>
        <p:nvSpPr>
          <p:cNvPr id="21" name="Shape 14"/>
          <p:cNvSpPr/>
          <p:nvPr/>
        </p:nvSpPr>
        <p:spPr>
          <a:xfrm>
            <a:off x="777240" y="4617720"/>
            <a:ext cx="10634472" cy="1051560"/>
          </a:xfrm>
          <a:prstGeom prst="roundRect">
            <a:avLst>
              <a:gd name="adj" fmla="val 8696"/>
            </a:avLst>
          </a:prstGeom>
          <a:solidFill>
            <a:srgbClr val="F6F1F7"/>
          </a:solidFill>
          <a:ln w="12700">
            <a:solidFill>
              <a:srgbClr val="F6F1F7"/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>
            <a:off x="1143000" y="4892040"/>
            <a:ext cx="502920" cy="5029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61116A"/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3818" y="5032858"/>
            <a:ext cx="221285" cy="221285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828800" y="489204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verse supports what is being said, and the interpretation of that verse supports the next. Nothing stands alone.</a:t>
            </a:r>
            <a:endParaRPr lang="en-US" sz="1400" dirty="0"/>
          </a:p>
        </p:txBody>
      </p:sp>
      <p:pic>
        <p:nvPicPr>
          <p:cNvPr id="25" name="Image 6" descr="/home/user/eugene-test-01/assets/logo_mark_color.png">    </p:cNvPr>
          <p:cNvPicPr>
            <a:picLocks noChangeAspect="1"/>
          </p:cNvPicPr>
          <p:nvPr/>
        </p:nvPicPr>
        <p:blipFill>
          <a:blip r:embed="rId7">
            <a:alphaModFix amt="75000"/>
          </a:blip>
          <a:stretch>
            <a:fillRect/>
          </a:stretch>
        </p:blipFill>
        <p:spPr>
          <a:xfrm>
            <a:off x="11027664" y="6053328"/>
            <a:ext cx="384048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E9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ENCOURAGEMENT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914400"/>
            <a:ext cx="6766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2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leave people condemned.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77240" y="23317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55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Guilt is not your tool. Allow the Holy Spirit to convict — your work is to heal, comfort, challenge and charge.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77240" y="3291840"/>
            <a:ext cx="2487168" cy="1371600"/>
          </a:xfrm>
          <a:prstGeom prst="roundRect">
            <a:avLst>
              <a:gd name="adj" fmla="val 6667"/>
            </a:avLst>
          </a:prstGeom>
          <a:solidFill>
            <a:srgbClr val="F6F1F7"/>
          </a:solidFill>
          <a:ln w="12700">
            <a:solidFill>
              <a:srgbClr val="F6F1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3547872"/>
            <a:ext cx="566928" cy="5669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AE960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1740" y="3706612"/>
            <a:ext cx="249448" cy="2494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3547872"/>
            <a:ext cx="1207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11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143000" y="4206240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8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 up what is broken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493008" y="3291840"/>
            <a:ext cx="2487168" cy="1371600"/>
          </a:xfrm>
          <a:prstGeom prst="roundRect">
            <a:avLst>
              <a:gd name="adj" fmla="val 6667"/>
            </a:avLst>
          </a:prstGeom>
          <a:solidFill>
            <a:srgbClr val="F6F1F7"/>
          </a:solidFill>
          <a:ln w="12700">
            <a:solidFill>
              <a:srgbClr val="F6F1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858768" y="3547872"/>
            <a:ext cx="566928" cy="5669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AE960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7508" y="3706612"/>
            <a:ext cx="249448" cy="2494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44568" y="3547872"/>
            <a:ext cx="1207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11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858768" y="4206240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8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the weary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208776" y="3291840"/>
            <a:ext cx="2487168" cy="1371600"/>
          </a:xfrm>
          <a:prstGeom prst="roundRect">
            <a:avLst>
              <a:gd name="adj" fmla="val 6667"/>
            </a:avLst>
          </a:prstGeom>
          <a:solidFill>
            <a:srgbClr val="F6F1F7"/>
          </a:solidFill>
          <a:ln w="12700">
            <a:solidFill>
              <a:srgbClr val="F6F1F7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574536" y="3547872"/>
            <a:ext cx="566928" cy="5669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AE9600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3276" y="3706612"/>
            <a:ext cx="249448" cy="2494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260336" y="3547872"/>
            <a:ext cx="1207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11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574536" y="4206240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8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them higher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8924544" y="3291840"/>
            <a:ext cx="2487168" cy="1371600"/>
          </a:xfrm>
          <a:prstGeom prst="roundRect">
            <a:avLst>
              <a:gd name="adj" fmla="val 6667"/>
            </a:avLst>
          </a:prstGeom>
          <a:solidFill>
            <a:srgbClr val="F6F1F7"/>
          </a:solidFill>
          <a:ln w="12700">
            <a:solidFill>
              <a:srgbClr val="F6F1F7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9290304" y="3547872"/>
            <a:ext cx="566928" cy="5669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AE9600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9044" y="3706612"/>
            <a:ext cx="249448" cy="2494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976104" y="3547872"/>
            <a:ext cx="1207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11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9290304" y="4206240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8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them out to act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777240" y="4983480"/>
            <a:ext cx="10634472" cy="1234440"/>
          </a:xfrm>
          <a:prstGeom prst="roundRect">
            <a:avLst>
              <a:gd name="adj" fmla="val 8889"/>
            </a:avLst>
          </a:prstGeom>
          <a:solidFill>
            <a:srgbClr val="330A3A"/>
          </a:solidFill>
          <a:ln w="12700">
            <a:solidFill>
              <a:srgbClr val="330A3A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1234440" y="519379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But the one who prophesies speaks to people for their strengthening, encouraging and comfort.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1234440" y="57058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C9B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CORINTHIANS 14:3 (NIV)</a:t>
            </a:r>
            <a:endParaRPr lang="en-US" sz="1050" dirty="0"/>
          </a:p>
        </p:txBody>
      </p:sp>
      <p:pic>
        <p:nvPicPr>
          <p:cNvPr id="28" name="Image 4" descr="/home/user/eugene-test-01/assets/logo_mark_white.png">    </p:cNvPr>
          <p:cNvPicPr>
            <a:picLocks noChangeAspect="1"/>
          </p:cNvPicPr>
          <p:nvPr/>
        </p:nvPicPr>
        <p:blipFill>
          <a:blip r:embed="rId5">
            <a:alphaModFix amt="28000"/>
          </a:blip>
          <a:stretch>
            <a:fillRect/>
          </a:stretch>
        </p:blipFill>
        <p:spPr>
          <a:xfrm>
            <a:off x="10351008" y="5230368"/>
            <a:ext cx="868680" cy="7406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E9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BALANCE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91440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rgbClr val="2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all have our biases.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77240" y="1847088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55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of us lean on the Old Testament, some on the New. Know where you lean, and work to balance it.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77240" y="2926080"/>
            <a:ext cx="4663440" cy="2286000"/>
          </a:xfrm>
          <a:prstGeom prst="roundRect">
            <a:avLst>
              <a:gd name="adj" fmla="val 4800"/>
            </a:avLst>
          </a:prstGeom>
          <a:solidFill>
            <a:srgbClr val="F6F1F7"/>
          </a:solidFill>
          <a:ln w="12700">
            <a:solidFill>
              <a:srgbClr val="F6F1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88720" y="3246120"/>
            <a:ext cx="685800" cy="6858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AE960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0744" y="3438144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11680" y="334670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11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Testament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188720" y="4160520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5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Covenant, law, prophets and the long story of God with His people.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748272" y="2926080"/>
            <a:ext cx="4663440" cy="2286000"/>
          </a:xfrm>
          <a:prstGeom prst="roundRect">
            <a:avLst>
              <a:gd name="adj" fmla="val 4800"/>
            </a:avLst>
          </a:prstGeom>
          <a:solidFill>
            <a:srgbClr val="F6F1F7"/>
          </a:solidFill>
          <a:ln w="12700">
            <a:solidFill>
              <a:srgbClr val="F6F1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159752" y="3246120"/>
            <a:ext cx="685800" cy="6858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AE960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76" y="3438144"/>
            <a:ext cx="301752" cy="30175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982712" y="334670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11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Testament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7159752" y="4160520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5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Christ, the cross, grace and the life of the early church.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733288" y="3721608"/>
            <a:ext cx="722376" cy="72237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61116A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5553" y="3923873"/>
            <a:ext cx="317845" cy="31784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77240" y="5532120"/>
            <a:ext cx="10634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6111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Preach the whole counsel of God.</a:t>
            </a:r>
            <a:endParaRPr lang="en-US" sz="1450" dirty="0"/>
          </a:p>
        </p:txBody>
      </p:sp>
      <p:pic>
        <p:nvPicPr>
          <p:cNvPr id="18" name="Image 3" descr="/home/user/eugene-test-01/assets/logo_mark_color.png">    </p:cNvPr>
          <p:cNvPicPr>
            <a:picLocks noChangeAspect="1"/>
          </p:cNvPicPr>
          <p:nvPr/>
        </p:nvPicPr>
        <p:blipFill>
          <a:blip r:embed="rId4">
            <a:alphaModFix amt="75000"/>
          </a:blip>
          <a:stretch>
            <a:fillRect/>
          </a:stretch>
        </p:blipFill>
        <p:spPr>
          <a:xfrm>
            <a:off x="11027664" y="6053328"/>
            <a:ext cx="384048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30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eugene-test-01/assets/logo_mark_white.png">    </p:cNvPr>
          <p:cNvPicPr>
            <a:picLocks noChangeAspect="1"/>
          </p:cNvPicPr>
          <p:nvPr/>
        </p:nvPicPr>
        <p:blipFill>
          <a:blip r:embed="rId1">
            <a:alphaModFix amt="9000"/>
          </a:blip>
          <a:stretch>
            <a:fillRect/>
          </a:stretch>
        </p:blipFill>
        <p:spPr>
          <a:xfrm>
            <a:off x="9052560" y="457200"/>
            <a:ext cx="2926080" cy="2514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B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IMPACT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77240" y="91440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anointing you carry.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777240" y="187452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CFC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 will minister to His people through the unique way He has anointed you. Do not borrow another person's delivery — carry your own.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777240" y="3246120"/>
            <a:ext cx="3383280" cy="2148840"/>
          </a:xfrm>
          <a:prstGeom prst="roundRect">
            <a:avLst>
              <a:gd name="adj" fmla="val 5106"/>
            </a:avLst>
          </a:prstGeom>
          <a:solidFill>
            <a:srgbClr val="48124F"/>
          </a:solidFill>
          <a:ln w="12700">
            <a:solidFill>
              <a:srgbClr val="48124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88720" y="3566160"/>
            <a:ext cx="685800" cy="685800"/>
          </a:xfrm>
          <a:prstGeom prst="ellipse">
            <a:avLst/>
          </a:prstGeom>
          <a:solidFill>
            <a:srgbClr val="C9B356">
              <a:alpha val="0"/>
            </a:srgbClr>
          </a:solidFill>
          <a:ln w="15875">
            <a:solidFill>
              <a:srgbClr val="C9B356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4" y="3758184"/>
            <a:ext cx="301752" cy="30175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4434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shout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188720" y="477316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E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and volume that stir a room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544568" y="3246120"/>
            <a:ext cx="3383280" cy="2148840"/>
          </a:xfrm>
          <a:prstGeom prst="roundRect">
            <a:avLst>
              <a:gd name="adj" fmla="val 5106"/>
            </a:avLst>
          </a:prstGeom>
          <a:solidFill>
            <a:srgbClr val="48124F"/>
          </a:solidFill>
          <a:ln w="12700">
            <a:solidFill>
              <a:srgbClr val="48124F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956048" y="3566160"/>
            <a:ext cx="685800" cy="685800"/>
          </a:xfrm>
          <a:prstGeom prst="ellipse">
            <a:avLst/>
          </a:prstGeom>
          <a:solidFill>
            <a:srgbClr val="C9B356">
              <a:alpha val="0"/>
            </a:srgbClr>
          </a:solidFill>
          <a:ln w="15875">
            <a:solidFill>
              <a:srgbClr val="C9B356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8072" y="3758184"/>
            <a:ext cx="301752" cy="30175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956048" y="4434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are soft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4956048" y="477316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E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quiet voice that settles deep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311896" y="3246120"/>
            <a:ext cx="3383280" cy="2148840"/>
          </a:xfrm>
          <a:prstGeom prst="roundRect">
            <a:avLst>
              <a:gd name="adj" fmla="val 5106"/>
            </a:avLst>
          </a:prstGeom>
          <a:solidFill>
            <a:srgbClr val="48124F"/>
          </a:solidFill>
          <a:ln w="12700">
            <a:solidFill>
              <a:srgbClr val="48124F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723376" y="3566160"/>
            <a:ext cx="685800" cy="685800"/>
          </a:xfrm>
          <a:prstGeom prst="ellipse">
            <a:avLst/>
          </a:prstGeom>
          <a:solidFill>
            <a:srgbClr val="C9B356">
              <a:alpha val="0"/>
            </a:srgbClr>
          </a:solidFill>
          <a:ln w="15875">
            <a:solidFill>
              <a:srgbClr val="C9B356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400" y="3758184"/>
            <a:ext cx="301752" cy="30175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723376" y="4434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joke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8723376" y="477316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E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Humour that opens hearts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777240" y="5669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C9B3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Spirit. Different vessels.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E9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91440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2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get the sermons</a:t>
            </a:r>
            <a:endParaRPr lang="en-US" sz="3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2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Sundays?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2514600"/>
            <a:ext cx="10634472" cy="1005840"/>
          </a:xfrm>
          <a:prstGeom prst="roundRect">
            <a:avLst>
              <a:gd name="adj" fmla="val 9091"/>
            </a:avLst>
          </a:prstGeom>
          <a:solidFill>
            <a:srgbClr val="61116A"/>
          </a:solidFill>
          <a:ln w="12700">
            <a:solidFill>
              <a:srgbClr val="6111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4440" y="251460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sermon should have a purpose</a:t>
            </a:r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and the purpose informs the content.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777240" y="3840480"/>
            <a:ext cx="4828032" cy="1874520"/>
          </a:xfrm>
          <a:prstGeom prst="roundRect">
            <a:avLst>
              <a:gd name="adj" fmla="val 5854"/>
            </a:avLst>
          </a:prstGeom>
          <a:solidFill>
            <a:srgbClr val="F6F1F7"/>
          </a:solidFill>
          <a:ln w="12700">
            <a:solidFill>
              <a:srgbClr val="F6F1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8720" y="4114800"/>
            <a:ext cx="640080" cy="6400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AE960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7942" y="4294022"/>
            <a:ext cx="281635" cy="28163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965960" y="418795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11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purpose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188720" y="493776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5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what God is saying to this house this Sunday, and what must change in the hearer.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583680" y="3840480"/>
            <a:ext cx="4828032" cy="1874520"/>
          </a:xfrm>
          <a:prstGeom prst="roundRect">
            <a:avLst>
              <a:gd name="adj" fmla="val 5854"/>
            </a:avLst>
          </a:prstGeom>
          <a:solidFill>
            <a:srgbClr val="F6F1F7"/>
          </a:solidFill>
          <a:ln w="12700">
            <a:solidFill>
              <a:srgbClr val="F6F1F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995160" y="4114800"/>
            <a:ext cx="640080" cy="6400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AE960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4382" y="4294022"/>
            <a:ext cx="281635" cy="28163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772400" y="418795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11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purpose choose content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6995160" y="493776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5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Text, illustrations and application are selected because they serve that purpose — not the other way round.</a:t>
            </a:r>
            <a:endParaRPr lang="en-US" sz="1250" dirty="0"/>
          </a:p>
        </p:txBody>
      </p:sp>
      <p:pic>
        <p:nvPicPr>
          <p:cNvPr id="16" name="Image 2" descr="/home/user/eugene-test-01/assets/logo_mark_color.png">    </p:cNvPr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11027664" y="6053328"/>
            <a:ext cx="384048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30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eugene-test-01/assets/logo_mark_white.png">    </p:cNvPr>
          <p:cNvPicPr>
            <a:picLocks noChangeAspect="1"/>
          </p:cNvPicPr>
          <p:nvPr/>
        </p:nvPicPr>
        <p:blipFill>
          <a:blip r:embed="rId1">
            <a:alphaModFix amt="6000"/>
          </a:blip>
          <a:stretch>
            <a:fillRect/>
          </a:stretch>
        </p:blipFill>
        <p:spPr>
          <a:xfrm>
            <a:off x="4206240" y="1371600"/>
            <a:ext cx="4206240" cy="36118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194560"/>
            <a:ext cx="121889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Rightly dividing</a:t>
            </a:r>
            <a:endParaRPr lang="en-US" sz="4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 of truth.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0" y="4041648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50" kern="0" dirty="0">
                <a:solidFill>
                  <a:srgbClr val="C9B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TIMOTHY 2:15 (NKJV)</a:t>
            </a:r>
            <a:endParaRPr lang="en-US" sz="1200" dirty="0"/>
          </a:p>
        </p:txBody>
      </p:sp>
      <p:pic>
        <p:nvPicPr>
          <p:cNvPr id="5" name="Image 1" descr="/home/user/eugene-test-01/assets/logo_full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6" y="5074920"/>
            <a:ext cx="2743200" cy="7589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Science &amp; Craft of Ministering the Word</dc:title>
  <dc:subject>PptxGenJS Presentation</dc:subject>
  <dc:creator>Kingdom Restoration Church</dc:creator>
  <cp:lastModifiedBy>Kingdom Restoration Church</cp:lastModifiedBy>
  <cp:revision>1</cp:revision>
  <dcterms:created xsi:type="dcterms:W3CDTF">2026-07-25T11:34:24Z</dcterms:created>
  <dcterms:modified xsi:type="dcterms:W3CDTF">2026-07-25T11:34:24Z</dcterms:modified>
</cp:coreProperties>
</file>